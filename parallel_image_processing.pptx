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OpenMP</c:v>
                </c:pt>
              </c:strCache>
            </c:strRef>
          </c:tx>
          <c:spPr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2.02</c:v>
                </c:pt>
                <c:pt idx="2">
                  <c:v>3.98</c:v>
                </c:pt>
                <c:pt idx="3">
                  <c:v>4.57</c:v>
                </c:pt>
                <c:pt idx="4">
                  <c:v>2.58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426-4D5F-B7CF-94BCEF5129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MPI</c:v>
                </c:pt>
              </c:strCache>
            </c:strRef>
          </c:tx>
          <c:spPr>
            <a:ln w="381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1.89</c:v>
                </c:pt>
                <c:pt idx="2">
                  <c:v>2.89</c:v>
                </c:pt>
                <c:pt idx="3">
                  <c:v>2.81</c:v>
                </c:pt>
                <c:pt idx="4">
                  <c:v>2.0499999999999998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426-4D5F-B7CF-94BCEF51293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Ideal</c:v>
                </c:pt>
              </c:strCache>
            </c:strRef>
          </c:tx>
          <c:spPr>
            <a:ln w="38100" cap="flat">
              <a:solidFill>
                <a:srgbClr val="6666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66666"/>
              </a:solidFill>
              <a:ln w="9525" cap="flat">
                <a:solidFill>
                  <a:srgbClr val="666666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426-4D5F-B7CF-94BCEF5129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chemeClr val="bg1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chemeClr val="bg1"/>
                    </a:solidFill>
                    <a:latin typeface="Arial"/>
                  </a:rPr>
                  <a:t>Number of Cores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chemeClr val="bg1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chemeClr val="bg1"/>
                    </a:solidFill>
                    <a:latin typeface="Arial"/>
                  </a:rPr>
                  <a:t>Speedup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OpenMP</c:v>
                </c:pt>
              </c:strCache>
            </c:strRef>
          </c:tx>
          <c:spPr>
            <a:solidFill>
              <a:srgbClr val="16A08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Core</c:v>
                </c:pt>
                <c:pt idx="1">
                  <c:v>2 Cores</c:v>
                </c:pt>
                <c:pt idx="2">
                  <c:v>4 Cores</c:v>
                </c:pt>
                <c:pt idx="3">
                  <c:v>8 Cores</c:v>
                </c:pt>
                <c:pt idx="4">
                  <c:v>16 Cores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7.6300000000000007E-2</c:v>
                </c:pt>
                <c:pt idx="1">
                  <c:v>3.78E-2</c:v>
                </c:pt>
                <c:pt idx="2">
                  <c:v>1.9199999999999998E-2</c:v>
                </c:pt>
                <c:pt idx="3">
                  <c:v>1.67E-2</c:v>
                </c:pt>
                <c:pt idx="4">
                  <c:v>2.9499999999999998E-2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2F-4356-BF17-F7F4857EB6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MPI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1 Core</c:v>
                </c:pt>
                <c:pt idx="1">
                  <c:v>2 Cores</c:v>
                </c:pt>
                <c:pt idx="2">
                  <c:v>4 Cores</c:v>
                </c:pt>
                <c:pt idx="3">
                  <c:v>8 Cores</c:v>
                </c:pt>
                <c:pt idx="4">
                  <c:v>16 Cores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7.2700000000000001E-2</c:v>
                </c:pt>
                <c:pt idx="1">
                  <c:v>3.8600000000000002E-2</c:v>
                </c:pt>
                <c:pt idx="2">
                  <c:v>2.52E-2</c:v>
                </c:pt>
                <c:pt idx="3">
                  <c:v>2.58E-2</c:v>
                </c:pt>
                <c:pt idx="4">
                  <c:v>3.5499999999999997E-2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2F-4356-BF17-F7F4857EB6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chemeClr val="bg1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chemeClr val="bg1"/>
                    </a:solidFill>
                    <a:latin typeface="Arial"/>
                  </a:rPr>
                  <a:t>Configuration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chemeClr val="bg1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chemeClr val="bg1"/>
                    </a:solidFill>
                    <a:latin typeface="Arial"/>
                  </a:rPr>
                  <a:t>Time (seconds)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OpenMP</c:v>
                </c:pt>
              </c:strCache>
            </c:strRef>
          </c:tx>
          <c:spPr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99.5</c:v>
                </c:pt>
                <c:pt idx="3">
                  <c:v>57.1</c:v>
                </c:pt>
                <c:pt idx="4">
                  <c:v>16.2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45-4C33-8912-D1CD473657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MPI</c:v>
                </c:pt>
              </c:strCache>
            </c:strRef>
          </c:tx>
          <c:spPr>
            <a:ln w="38100" cap="flat">
              <a:solidFill>
                <a:srgbClr val="E67E2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7E22"/>
              </a:solidFill>
              <a:ln w="9525" cap="flat">
                <a:solidFill>
                  <a:srgbClr val="E67E22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94.3</c:v>
                </c:pt>
                <c:pt idx="2">
                  <c:v>72.2</c:v>
                </c:pt>
                <c:pt idx="3">
                  <c:v>35.200000000000003</c:v>
                </c:pt>
                <c:pt idx="4">
                  <c:v>12.8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45-4C33-8912-D1CD473657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Number of Cores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Efficiency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84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04f47d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4835" y="886421"/>
            <a:ext cx="83553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CPRE 4240 FINAL PROJECT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584835" y="1219039"/>
            <a:ext cx="835533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Image Processing using various Filters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84835" y="2387947"/>
            <a:ext cx="835533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3000"/>
              </a:spcAft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 vs MPI Performance Analysis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102132" y="3120615"/>
            <a:ext cx="1376214" cy="653207"/>
          </a:xfrm>
          <a:prstGeom prst="roundRect">
            <a:avLst>
              <a:gd name="adj" fmla="val 8749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121182" y="3120615"/>
            <a:ext cx="0" cy="653207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60023" y="3234915"/>
            <a:ext cx="89853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3360023" y="3446251"/>
            <a:ext cx="89853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54033" y="3120615"/>
            <a:ext cx="1568797" cy="653207"/>
          </a:xfrm>
          <a:prstGeom prst="roundRect">
            <a:avLst>
              <a:gd name="adj" fmla="val 8749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973083" y="3120615"/>
            <a:ext cx="0" cy="653207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09998" y="3234915"/>
            <a:ext cx="109496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Memory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5209998" y="3446251"/>
            <a:ext cx="109496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1000" y="4754910"/>
            <a:ext cx="8547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Aidan Perry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600192" y="4754910"/>
            <a:ext cx="11047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State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746200"/>
            <a:ext cx="4937820" cy="1316087"/>
          </a:xfrm>
          <a:prstGeom prst="roundRect">
            <a:avLst>
              <a:gd name="adj" fmla="val 579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5300" y="1936700"/>
            <a:ext cx="4647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495300" y="2118717"/>
            <a:ext cx="464795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processing on large images is computationally expensive. Applying filters like blur and edge detection from 512 x 512 to 2048 × 2048 images takes significant time when processed serially as opposed to a brightness or grayscale filter which is very parallelized.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04800" y="3252788"/>
            <a:ext cx="4937820" cy="1316087"/>
          </a:xfrm>
          <a:prstGeom prst="roundRect">
            <a:avLst>
              <a:gd name="adj" fmla="val 579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5300" y="3443288"/>
            <a:ext cx="4647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Approach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495300" y="3738563"/>
            <a:ext cx="464795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Parallelize using two paradigms: OpenMP for shared memory (a single node) and MPI for distributed memory (multiple nodes) to compare performance characteristics.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47420" y="1347192"/>
            <a:ext cx="335761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PARAMETERS</a:t>
            </a:r>
            <a:endParaRPr lang="en-US" sz="975" dirty="0"/>
          </a:p>
        </p:txBody>
      </p:sp>
      <p:pic>
        <p:nvPicPr>
          <p:cNvPr id="11" name="Image 0" descr="/tmp/rasterized-gradient-b385e8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420" y="1634728"/>
            <a:ext cx="3291780" cy="87615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737920" y="1787128"/>
            <a:ext cx="296899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sizes up to 2048x2048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37920" y="2198489"/>
            <a:ext cx="296899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Resolution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47420" y="2625179"/>
            <a:ext cx="3291780" cy="704701"/>
          </a:xfrm>
          <a:prstGeom prst="roundRect">
            <a:avLst>
              <a:gd name="adj" fmla="val 811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5566470" y="2625179"/>
            <a:ext cx="0" cy="704701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776020" y="2758529"/>
            <a:ext cx="29301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Blur Filter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776020" y="3036540"/>
            <a:ext cx="2930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3×3 convolution kernel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547420" y="3444180"/>
            <a:ext cx="3291780" cy="704701"/>
          </a:xfrm>
          <a:prstGeom prst="roundRect">
            <a:avLst>
              <a:gd name="adj" fmla="val 811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5566470" y="3444180"/>
            <a:ext cx="0" cy="704701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776020" y="3577530"/>
            <a:ext cx="29301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1–16 Cores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776020" y="3855541"/>
            <a:ext cx="2930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range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47420" y="4263182"/>
            <a:ext cx="3291780" cy="704701"/>
          </a:xfrm>
          <a:prstGeom prst="roundRect">
            <a:avLst>
              <a:gd name="adj" fmla="val 811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5566470" y="4263182"/>
            <a:ext cx="0" cy="704701"/>
          </a:xfrm>
          <a:prstGeom prst="line">
            <a:avLst/>
          </a:prstGeom>
          <a:noFill/>
          <a:ln w="38100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776020" y="4396532"/>
            <a:ext cx="29301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Cluster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5776020" y="4674543"/>
            <a:ext cx="29301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State HPC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4117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OpenMP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651" y="881313"/>
            <a:ext cx="40156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651" y="1206949"/>
            <a:ext cx="3936950" cy="939105"/>
          </a:xfrm>
          <a:prstGeom prst="roundRect">
            <a:avLst>
              <a:gd name="adj" fmla="val 6086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051" y="1359349"/>
            <a:ext cx="37047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Row-wise Parallelization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051" y="1622180"/>
            <a:ext cx="37047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thread processes a chunk of rows independently. No data exchange needed between threads.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04651" y="2298455"/>
            <a:ext cx="3936950" cy="939105"/>
          </a:xfrm>
          <a:prstGeom prst="roundRect">
            <a:avLst>
              <a:gd name="adj" fmla="val 6086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051" y="2450855"/>
            <a:ext cx="37047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Scheduling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051" y="2713685"/>
            <a:ext cx="37047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divided evenly at compile time. Predictable, low-overhead distribution.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04651" y="3389960"/>
            <a:ext cx="3936950" cy="939105"/>
          </a:xfrm>
          <a:prstGeom prst="roundRect">
            <a:avLst>
              <a:gd name="adj" fmla="val 6086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57051" y="3542360"/>
            <a:ext cx="37047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 Access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051" y="3805191"/>
            <a:ext cx="370479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threads read from same input array. Cache coherence handled by hardware.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465142" y="881313"/>
            <a:ext cx="4417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CODE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508450" y="1073599"/>
            <a:ext cx="4330750" cy="2939849"/>
          </a:xfrm>
          <a:prstGeom prst="roundRect">
            <a:avLst>
              <a:gd name="adj" fmla="val 2637"/>
            </a:avLst>
          </a:prstGeom>
          <a:solidFill>
            <a:srgbClr val="0D1117"/>
          </a:solidFill>
          <a:ln w="9525">
            <a:solidFill>
              <a:srgbClr val="2D4A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08450" y="4127748"/>
            <a:ext cx="2098774" cy="628650"/>
          </a:xfrm>
          <a:prstGeom prst="roundRect">
            <a:avLst>
              <a:gd name="adj" fmla="val 9091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623480" y="4222998"/>
            <a:ext cx="1868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23480" y="4508748"/>
            <a:ext cx="18687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Speedup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721525" y="4127748"/>
            <a:ext cx="2117824" cy="628650"/>
          </a:xfrm>
          <a:prstGeom prst="roundRect">
            <a:avLst>
              <a:gd name="adj" fmla="val 9091"/>
            </a:avLst>
          </a:prstGeom>
          <a:solidFill>
            <a:srgbClr val="1B2838"/>
          </a:solidFill>
          <a:ln w="9525">
            <a:solidFill>
              <a:srgbClr val="16A085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46079" y="4232523"/>
            <a:ext cx="18687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46079" y="4518273"/>
            <a:ext cx="18687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Threads</a:t>
            </a:r>
            <a:endParaRPr lang="en-US" sz="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E5EE99E-82C6-9927-BECF-A8B90DF34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672" y="1101636"/>
            <a:ext cx="3006303" cy="28892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013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MPI Implementation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224410"/>
            <a:ext cx="401568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304800" y="1530996"/>
            <a:ext cx="3936950" cy="830461"/>
          </a:xfrm>
          <a:prstGeom prst="roundRect">
            <a:avLst>
              <a:gd name="adj" fmla="val 6882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38150" y="1664346"/>
            <a:ext cx="37436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Decomposition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38150" y="1908126"/>
            <a:ext cx="374365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divided into horizontal strips. Each process owns a chunk of rows.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494807"/>
            <a:ext cx="3936950" cy="868561"/>
          </a:xfrm>
          <a:prstGeom prst="roundRect">
            <a:avLst>
              <a:gd name="adj" fmla="val 6580"/>
            </a:avLst>
          </a:prstGeom>
          <a:solidFill>
            <a:srgbClr val="1B2838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647207"/>
            <a:ext cx="37047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 Exchange (Critical!)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890987"/>
            <a:ext cx="370479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row data must be exchanged with neighbors for convolution. Uses MPI_Sendrecv for synchronization.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800" y="3496718"/>
            <a:ext cx="3936950" cy="670471"/>
          </a:xfrm>
          <a:prstGeom prst="roundRect">
            <a:avLst>
              <a:gd name="adj" fmla="val 8524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38150" y="3630068"/>
            <a:ext cx="374365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450"/>
              </a:spcAft>
              <a:buNone/>
            </a:pPr>
            <a:r>
              <a:rPr lang="en-US" sz="105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Scatter/Gather Pattern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150" y="3873848"/>
            <a:ext cx="37436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distributes data via MPI_Scatterv, collects results via MPI_Gatherv.</a:t>
            </a:r>
            <a:endParaRPr lang="en-US" sz="900" dirty="0"/>
          </a:p>
        </p:txBody>
      </p:sp>
      <p:pic>
        <p:nvPicPr>
          <p:cNvPr id="14" name="Image 0" descr="/tmp/rasterized-gradient-397ae4c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300538"/>
            <a:ext cx="3936950" cy="57328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19100" y="4414838"/>
            <a:ext cx="37825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Limitation: Communication Overhead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19100" y="4612929"/>
            <a:ext cx="37825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latency dominates at high process counts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4512842" y="814389"/>
            <a:ext cx="441736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 EXCHANGE CODE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4508450" y="1082876"/>
            <a:ext cx="4330750" cy="3074788"/>
          </a:xfrm>
          <a:prstGeom prst="roundRect">
            <a:avLst>
              <a:gd name="adj" fmla="val 2353"/>
            </a:avLst>
          </a:prstGeom>
          <a:solidFill>
            <a:srgbClr val="0D1117"/>
          </a:solidFill>
          <a:ln w="9525">
            <a:solidFill>
              <a:srgbClr val="2D4A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508450" y="4271963"/>
            <a:ext cx="2098774" cy="601861"/>
          </a:xfrm>
          <a:prstGeom prst="roundRect">
            <a:avLst>
              <a:gd name="adj" fmla="val 9496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4604049" y="4367213"/>
            <a:ext cx="19075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~3×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604049" y="4626173"/>
            <a:ext cx="1907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Speedup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721525" y="4271963"/>
            <a:ext cx="2117824" cy="601861"/>
          </a:xfrm>
          <a:prstGeom prst="roundRect">
            <a:avLst>
              <a:gd name="adj" fmla="val 9496"/>
            </a:avLst>
          </a:prstGeom>
          <a:solidFill>
            <a:srgbClr val="1B2838"/>
          </a:solidFill>
          <a:ln w="9525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826648" y="4376738"/>
            <a:ext cx="190757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Nodes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6826648" y="4635698"/>
            <a:ext cx="1907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Total Processes</a:t>
            </a:r>
            <a:endParaRPr lang="en-US" sz="7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34FE28-270F-722C-775A-DD2254C7F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0394" y="1115418"/>
            <a:ext cx="2386862" cy="30097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5660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Results: Speedup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76950" y="1504504"/>
            <a:ext cx="2817495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76950" y="1792039"/>
            <a:ext cx="2762250" cy="771227"/>
          </a:xfrm>
          <a:prstGeom prst="roundRect">
            <a:avLst>
              <a:gd name="adj" fmla="val 741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10300" y="1925389"/>
            <a:ext cx="254546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 Wins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6210300" y="2136725"/>
            <a:ext cx="254546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4.6× speedup at 8 threads. Shared memory eliminates communication overhead.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076950" y="2677567"/>
            <a:ext cx="2762250" cy="771227"/>
          </a:xfrm>
          <a:prstGeom prst="roundRect">
            <a:avLst>
              <a:gd name="adj" fmla="val 741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96000" y="2677567"/>
            <a:ext cx="0" cy="771227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48400" y="2810917"/>
            <a:ext cx="25065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 Overhead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248400" y="3022253"/>
            <a:ext cx="25065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communication limits MPI to ~3× speedup for this problem size.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6076950" y="3563094"/>
            <a:ext cx="2762250" cy="771227"/>
          </a:xfrm>
          <a:prstGeom prst="roundRect">
            <a:avLst>
              <a:gd name="adj" fmla="val 7410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96000" y="3563094"/>
            <a:ext cx="0" cy="771227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48400" y="3696444"/>
            <a:ext cx="250659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Limits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248400" y="3907780"/>
            <a:ext cx="250659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approaches show diminishing returns beyond 8 cores.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076950" y="4448621"/>
            <a:ext cx="2762250" cy="361950"/>
          </a:xfrm>
          <a:prstGeom prst="roundRect">
            <a:avLst>
              <a:gd name="adj" fmla="val 1578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65914" y="4562921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Image: 2048×2048 • Blur filter</a:t>
            </a:r>
            <a:endParaRPr lang="en-US" sz="75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2620876185"/>
              </p:ext>
            </p:extLst>
          </p:nvPr>
        </p:nvGraphicFramePr>
        <p:xfrm>
          <a:off x="304800" y="1171575"/>
          <a:ext cx="5543550" cy="397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366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Execution Time Comparison</a:t>
            </a:r>
            <a:endParaRPr lang="en-US" sz="2700" dirty="0"/>
          </a:p>
        </p:txBody>
      </p:sp>
      <p:pic>
        <p:nvPicPr>
          <p:cNvPr id="6" name="Image 0" descr="/tmp/rasterized-gradient-8c1557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0" y="3908971"/>
            <a:ext cx="2762250" cy="5466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91250" y="4023271"/>
            <a:ext cx="258432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cores: Times INCREASE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6191250" y="4207966"/>
            <a:ext cx="25843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 saturates, overhead dominates</a:t>
            </a:r>
            <a:endParaRPr lang="en-US" sz="75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925674532"/>
              </p:ext>
            </p:extLst>
          </p:nvPr>
        </p:nvGraphicFramePr>
        <p:xfrm>
          <a:off x="304800" y="1171575"/>
          <a:ext cx="5543550" cy="397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A0C75A8C-A385-188F-6E5A-0022586A09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7555"/>
          <a:stretch>
            <a:fillRect/>
          </a:stretch>
        </p:blipFill>
        <p:spPr>
          <a:xfrm>
            <a:off x="5956713" y="1504052"/>
            <a:ext cx="2958687" cy="2295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54660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Parallel Efficiency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29300" y="1519386"/>
            <a:ext cx="307009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EFFICIENCY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829300" y="1825972"/>
            <a:ext cx="3009900" cy="1123950"/>
          </a:xfrm>
          <a:prstGeom prst="roundRect">
            <a:avLst>
              <a:gd name="adj" fmla="val 5085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962650" y="1959322"/>
            <a:ext cx="2798064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= Speedup / Cores</a:t>
            </a: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endParaRPr lang="en-US" sz="900" dirty="0"/>
          </a:p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Ideal efficiency is 100% (linear speedup). Real-world systems face overhead from synchronization, communication, and resource contention.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829300" y="3083272"/>
            <a:ext cx="1457325" cy="674340"/>
          </a:xfrm>
          <a:prstGeom prst="roundRect">
            <a:avLst>
              <a:gd name="adj" fmla="val 8475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931313" y="3197572"/>
            <a:ext cx="12533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931313" y="3509963"/>
            <a:ext cx="1253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 @ 8 cores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381875" y="3083272"/>
            <a:ext cx="1457325" cy="674340"/>
          </a:xfrm>
          <a:prstGeom prst="roundRect">
            <a:avLst>
              <a:gd name="adj" fmla="val 8475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83888" y="3197572"/>
            <a:ext cx="1253300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35.2%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83888" y="3509963"/>
            <a:ext cx="12533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 @ 8 cores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829300" y="3890962"/>
            <a:ext cx="3009900" cy="904577"/>
          </a:xfrm>
          <a:prstGeom prst="roundRect">
            <a:avLst>
              <a:gd name="adj" fmla="val 6318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848350" y="3890962"/>
            <a:ext cx="0" cy="904577"/>
          </a:xfrm>
          <a:prstGeom prst="line">
            <a:avLst/>
          </a:prstGeom>
          <a:noFill/>
          <a:ln w="381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00750" y="4024313"/>
            <a:ext cx="27592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MPI Efficiency is Lower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00750" y="4222403"/>
            <a:ext cx="2759202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latency (~1000× slower than shared memory), halo exchange synchronization, and scatter/gather overhead all reduce efficiency.</a:t>
            </a:r>
            <a:endParaRPr lang="en-US" sz="825" dirty="0"/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1505704525"/>
              </p:ext>
            </p:extLst>
          </p:nvPr>
        </p:nvGraphicFramePr>
        <p:xfrm>
          <a:off x="304800" y="1171575"/>
          <a:ext cx="5295900" cy="3971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Bottleneck Analysis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04800" y="1705421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2450" y="1688306"/>
            <a:ext cx="181983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 BOTTLENECKS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4800" y="2027337"/>
            <a:ext cx="4152900" cy="790277"/>
          </a:xfrm>
          <a:prstGeom prst="roundRect">
            <a:avLst>
              <a:gd name="adj" fmla="val 7232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8150" y="2160687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438150" y="2391073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cores share the same memory bus. At 16 cores, bandwidth saturates causing cache misses and stalls.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304800" y="2931914"/>
            <a:ext cx="4152900" cy="790277"/>
          </a:xfrm>
          <a:prstGeom prst="roundRect">
            <a:avLst>
              <a:gd name="adj" fmla="val 7232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8150" y="3065264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Sharing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38150" y="3295650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lines shared between threads cause unnecessary invalidations even with private data.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04800" y="3836491"/>
            <a:ext cx="4152900" cy="790277"/>
          </a:xfrm>
          <a:prstGeom prst="roundRect">
            <a:avLst>
              <a:gd name="adj" fmla="val 7232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38150" y="3969841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Effects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38150" y="4200227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Non-uniform memory access on multi-socket systems adds latency for remote memory access.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4686300" y="1759595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3950" y="1742480"/>
            <a:ext cx="144548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 BOTTLENECKS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86300" y="2081510"/>
            <a:ext cx="4152900" cy="828377"/>
          </a:xfrm>
          <a:prstGeom prst="roundRect">
            <a:avLst>
              <a:gd name="adj" fmla="val 6899"/>
            </a:avLst>
          </a:prstGeom>
          <a:solidFill>
            <a:srgbClr val="1B2838"/>
          </a:solidFill>
          <a:ln w="19050">
            <a:solidFill>
              <a:srgbClr val="E67E2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38700" y="2233910"/>
            <a:ext cx="392506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Latency (Primary)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4838700" y="2464296"/>
            <a:ext cx="3925062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halo exchange requires network round-trip. Even fast networks add microseconds per operation.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86300" y="3024188"/>
            <a:ext cx="4152900" cy="790277"/>
          </a:xfrm>
          <a:prstGeom prst="roundRect">
            <a:avLst>
              <a:gd name="adj" fmla="val 7232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9650" y="3157538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Synchronization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4819650" y="3387923"/>
            <a:ext cx="396392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MPI_Sendrecv blocks until both send and receive complete. Processes wait for slowest neighbor.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686300" y="3928765"/>
            <a:ext cx="4152900" cy="643682"/>
          </a:xfrm>
          <a:prstGeom prst="roundRect">
            <a:avLst>
              <a:gd name="adj" fmla="val 8879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9269" y="3969841"/>
            <a:ext cx="396392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per Process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819650" y="4153448"/>
            <a:ext cx="39639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2048/16 = 128 rows per process. Too little work to be able to reduce communication costs.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28600" y="228600"/>
            <a:ext cx="68240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OpenMP vs MPI: When to Use Each</a:t>
            </a:r>
            <a:endParaRPr lang="en-US" sz="2700" dirty="0"/>
          </a:p>
        </p:txBody>
      </p:sp>
      <p:pic>
        <p:nvPicPr>
          <p:cNvPr id="4" name="Image 0" descr="/tmp/rasterized-gradient-7ac8929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1041649"/>
            <a:ext cx="3790950" cy="32193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5775" y="1203574"/>
            <a:ext cx="922883" cy="365671"/>
          </a:xfrm>
          <a:prstGeom prst="roundRect">
            <a:avLst>
              <a:gd name="adj" fmla="val 10419"/>
            </a:avLst>
          </a:prstGeom>
          <a:solidFill>
            <a:srgbClr val="16A08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38175" y="1279774"/>
            <a:ext cx="63044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503908" y="1313111"/>
            <a:ext cx="76039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Memory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485775" y="1759744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85775" y="1995934"/>
            <a:ext cx="3467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Single-node parallelism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that fit in RAM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 prototyping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parallelization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5775" y="3291334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85775" y="3527525"/>
            <a:ext cx="34671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to one machine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bandwidth bound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352925" y="2413249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1BE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00271" y="2558058"/>
            <a:ext cx="18155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0C18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50" dirty="0"/>
          </a:p>
        </p:txBody>
      </p:sp>
      <p:pic>
        <p:nvPicPr>
          <p:cNvPr id="14" name="Image 1" descr="/tmp/rasterized-gradient-4d9c766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1041649"/>
            <a:ext cx="3790950" cy="32193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29225" y="1203574"/>
            <a:ext cx="575816" cy="365671"/>
          </a:xfrm>
          <a:prstGeom prst="roundRect">
            <a:avLst>
              <a:gd name="adj" fmla="val 10419"/>
            </a:avLst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5381625" y="1279774"/>
            <a:ext cx="27643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00291" y="1313111"/>
            <a:ext cx="92646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Memory</a:t>
            </a:r>
            <a:endParaRPr lang="en-US" sz="825" dirty="0"/>
          </a:p>
        </p:txBody>
      </p:sp>
      <p:sp>
        <p:nvSpPr>
          <p:cNvPr id="18" name="Text 14"/>
          <p:cNvSpPr/>
          <p:nvPr/>
        </p:nvSpPr>
        <p:spPr>
          <a:xfrm>
            <a:off x="5229225" y="1759744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229225" y="1995934"/>
            <a:ext cx="3467100" cy="1181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Multi-node clusters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larger than RAM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HPC workloads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parallelism (1000s cores)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229225" y="3291334"/>
            <a:ext cx="35364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Limitations: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229225" y="3527525"/>
            <a:ext cx="3467100" cy="5715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programming complexity</a:t>
            </a:r>
            <a:endParaRPr lang="en-US" sz="1350" dirty="0"/>
          </a:p>
          <a:p>
            <a:pPr marL="76200" indent="-762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overhead</a:t>
            </a:r>
            <a:endParaRPr lang="en-US" sz="1350" dirty="0"/>
          </a:p>
        </p:txBody>
      </p:sp>
      <p:sp>
        <p:nvSpPr>
          <p:cNvPr id="22" name="Text 18"/>
          <p:cNvSpPr/>
          <p:nvPr/>
        </p:nvSpPr>
        <p:spPr>
          <a:xfrm>
            <a:off x="304800" y="4602510"/>
            <a:ext cx="8534400" cy="388590"/>
          </a:xfrm>
          <a:prstGeom prst="roundRect">
            <a:avLst>
              <a:gd name="adj" fmla="val 14707"/>
            </a:avLst>
          </a:prstGeom>
          <a:solidFill>
            <a:srgbClr val="1B28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19"/>
          <p:cNvSpPr/>
          <p:nvPr/>
        </p:nvSpPr>
        <p:spPr>
          <a:xfrm>
            <a:off x="323850" y="4602510"/>
            <a:ext cx="0" cy="388590"/>
          </a:xfrm>
          <a:prstGeom prst="line">
            <a:avLst/>
          </a:prstGeom>
          <a:noFill/>
          <a:ln w="38100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533400" y="4716810"/>
            <a:ext cx="82776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For single-node image processing, OpenMP is ~2x faster due to eliminated communication overhead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6632c1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9700" y="0"/>
            <a:ext cx="1143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8600" y="700088"/>
            <a:ext cx="8686800" cy="0"/>
          </a:xfrm>
          <a:prstGeom prst="line">
            <a:avLst/>
          </a:prstGeom>
          <a:noFill/>
          <a:ln w="28575">
            <a:solidFill>
              <a:srgbClr val="F1BE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28600" y="228600"/>
            <a:ext cx="443998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04800" y="209282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1BE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685800" y="2092821"/>
            <a:ext cx="33289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Tool for this scenario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85800" y="2317552"/>
            <a:ext cx="33289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 for single-node, MPI when you need multi-node scaling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04800" y="2610892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1BE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85800" y="2610892"/>
            <a:ext cx="31885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is Critical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5800" y="2835622"/>
            <a:ext cx="31885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 halo exchange dominates runtime at high process counts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04800" y="312896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1BE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85800" y="3128963"/>
            <a:ext cx="347389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Cores ≠ More Speed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3353693"/>
            <a:ext cx="34738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Diminishing returns beyond 8 cores due to communication overhead 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04800" y="364703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F1BE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85800" y="3647033"/>
            <a:ext cx="353522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Size Matters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3871764"/>
            <a:ext cx="353522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2048×2048 may need larger images to benefit from more parallelism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147667" y="1460450"/>
            <a:ext cx="3765363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RESULTS</a:t>
            </a:r>
            <a:endParaRPr lang="en-US" sz="975" dirty="0"/>
          </a:p>
        </p:txBody>
      </p:sp>
      <p:pic>
        <p:nvPicPr>
          <p:cNvPr id="18" name="Image 1" descr="/tmp/rasterized-gradient-ac1e62d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7667" y="1747986"/>
            <a:ext cx="3691533" cy="91618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0067" y="1900386"/>
            <a:ext cx="3454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OpenMP Peak</a:t>
            </a:r>
            <a:endParaRPr lang="en-US" sz="825" dirty="0"/>
          </a:p>
        </p:txBody>
      </p:sp>
      <p:sp>
        <p:nvSpPr>
          <p:cNvPr id="20" name="Text 16"/>
          <p:cNvSpPr/>
          <p:nvPr/>
        </p:nvSpPr>
        <p:spPr>
          <a:xfrm>
            <a:off x="5300067" y="2085082"/>
            <a:ext cx="34544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4.6×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2400" dirty="0"/>
          </a:p>
        </p:txBody>
      </p:sp>
      <p:pic>
        <p:nvPicPr>
          <p:cNvPr id="21" name="Image 2" descr="/tmp/rasterized-gradient-b0aef78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667" y="2778472"/>
            <a:ext cx="3691533" cy="91618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00067" y="2930872"/>
            <a:ext cx="345446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MPI Peak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5300067" y="3115568"/>
            <a:ext cx="3454467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60"/>
              </a:lnSpc>
              <a:spcBef>
                <a:spcPts val="300"/>
              </a:spcBef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2.9× 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speedup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5147667" y="3808958"/>
            <a:ext cx="3691533" cy="855166"/>
          </a:xfrm>
          <a:prstGeom prst="roundRect">
            <a:avLst>
              <a:gd name="adj" fmla="val 8911"/>
            </a:avLst>
          </a:prstGeom>
          <a:solidFill>
            <a:srgbClr val="1B2838"/>
          </a:solidFill>
          <a:ln w="9525">
            <a:solidFill>
              <a:srgbClr val="2D4A5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5290542" y="3951833"/>
            <a:ext cx="347389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Configuration</a:t>
            </a:r>
            <a:endParaRPr lang="en-US" sz="825" dirty="0"/>
          </a:p>
        </p:txBody>
      </p:sp>
      <p:sp>
        <p:nvSpPr>
          <p:cNvPr id="26" name="Text 21"/>
          <p:cNvSpPr/>
          <p:nvPr/>
        </p:nvSpPr>
        <p:spPr>
          <a:xfrm>
            <a:off x="5290542" y="4136529"/>
            <a:ext cx="3473898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spcBef>
                <a:spcPts val="300"/>
              </a:spcBef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threads/processes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290542" y="4387900"/>
            <a:ext cx="34738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2048×2048 blur filter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8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e5f5a06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" cy="5143500"/>
          </a:xfrm>
          <a:prstGeom prst="rect">
            <a:avLst/>
          </a:prstGeom>
        </p:spPr>
      </p:pic>
      <p:pic>
        <p:nvPicPr>
          <p:cNvPr id="3" name="Image 1" descr="/tmp/rasterized-gradient-a48175a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9700" y="0"/>
            <a:ext cx="1143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1518" y="1038374"/>
            <a:ext cx="114096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F1BE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5" name="Text 1"/>
          <p:cNvSpPr/>
          <p:nvPr/>
        </p:nvSpPr>
        <p:spPr>
          <a:xfrm>
            <a:off x="3182532" y="1567904"/>
            <a:ext cx="2778937" cy="693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60"/>
              </a:lnSpc>
              <a:spcAft>
                <a:spcPts val="240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3900" dirty="0"/>
          </a:p>
        </p:txBody>
      </p:sp>
      <p:sp>
        <p:nvSpPr>
          <p:cNvPr id="16" name="Text 12"/>
          <p:cNvSpPr/>
          <p:nvPr/>
        </p:nvSpPr>
        <p:spPr>
          <a:xfrm>
            <a:off x="381000" y="4754910"/>
            <a:ext cx="172571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Aidan Perry • CPRE 424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689354" y="4754910"/>
            <a:ext cx="109511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State University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728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Image Processing - OpenMP vs MPI</dc:title>
  <dc:subject>CPRE 4240 / COM S 424 Final Project</dc:subject>
  <dc:creator>Aidan</dc:creator>
  <cp:lastModifiedBy>Aidan Perry</cp:lastModifiedBy>
  <cp:revision>4</cp:revision>
  <dcterms:created xsi:type="dcterms:W3CDTF">2025-12-02T01:26:52Z</dcterms:created>
  <dcterms:modified xsi:type="dcterms:W3CDTF">2025-12-02T15:37:31Z</dcterms:modified>
</cp:coreProperties>
</file>